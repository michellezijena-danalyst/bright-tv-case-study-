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-17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D4F3C-FB6C-4748-AE52-3204A3D33A5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69F55-5F9B-4FEA-A79F-0E4DE1685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20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Growth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Report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behaviour, content performance, and recommendations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grow consumption and audience reach.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1828800" cy="0"/>
          </a:xfrm>
          <a:prstGeom prst="line">
            <a:avLst/>
          </a:prstGeom>
          <a:noFill/>
          <a:ln w="25400">
            <a:solidFill>
              <a:srgbClr val="0FB5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349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20-minute walkthrough of the data, the story it tells, and the actions it suggests.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600200" y="2084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560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analysed and how.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5740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360920" y="2084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 Bright TV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60920" y="25603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geography, and reach.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600200" y="35935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they watch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0690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Day-of-week, daypart, and session patterns.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56616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360920" y="359359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consumption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60920" y="40690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viewing 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749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600200" y="51023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for low-consumption days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00200" y="5577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recommendations.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493776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07492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360920" y="51023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to grow the user base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60920" y="55778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|  Audience Insights  |  Jan–Mar 2016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Dataset &amp;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4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iewing 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across DStv channels carried by Bright TV.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sessions analysed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920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1792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tracked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19202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057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5256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Provinces covered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captured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ID, age, age group, gender, race, province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date, time, hour, day of week, daypart, month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channel watched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session duration in seconds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657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read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02336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total minutes by day, hour and channel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by demographic and geographic cohorts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peak and trough patterns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channels with low-consumption windows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|  Audience Insights  |  Jan–Mar 2016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Audience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watching Bright TV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predominantly young, male, urban audience </a:t>
            </a:r>
            <a:r>
              <a:rPr lang="en-US" sz="14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watch the longest.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713232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63840" y="173736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0" y="219456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is the largest cohort (37%)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viewers are male — strong skew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Under-18s watch the longest sessions </a:t>
            </a:r>
            <a:r>
              <a:rPr lang="en-US" sz="1400" dirty="0" smtClean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</a:t>
            </a: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avg)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segment is small (4%) and quick to leave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Audience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watch from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provinces drive the majority of viewing </a:t>
            </a:r>
            <a:r>
              <a:rPr lang="en-US" sz="14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7132320" cy="384048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737360"/>
            <a:ext cx="4114800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863840" y="49377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8F4F8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55280" y="5029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of sessions come from Gauteng + Western Cape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|  Audience Insights  |  Jan–Mar 2016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When they watch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wins, Monday lags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delivers 2× the viewing minutes of Monday </a:t>
            </a:r>
            <a:r>
              <a:rPr lang="en-US" sz="14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consumption gap.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777240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73736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0" y="219456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peaks at 1,692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</a:t>
            </a:r>
            <a:r>
              <a:rPr lang="en-US" sz="1400" dirty="0" smtClean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</a:t>
            </a:r>
            <a:r>
              <a:rPr lang="en-US" sz="1400" dirty="0" smtClean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807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= 30% of total viewing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Mon–Thu represents the biggest growth opportunity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is 5–7 PM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evening peak, with secondary spikes mid-morning and early afternoon.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822960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69680" y="1737360"/>
            <a:ext cx="2926080" cy="4023360"/>
          </a:xfrm>
          <a:prstGeom prst="roundRect">
            <a:avLst>
              <a:gd name="adj" fmla="val 25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068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00684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 – 19:00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00684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session: ~14 min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006840" y="3246120"/>
            <a:ext cx="1371600" cy="0"/>
          </a:xfrm>
          <a:prstGeom prst="line">
            <a:avLst/>
          </a:prstGeom>
          <a:noFill/>
          <a:ln w="25400">
            <a:solidFill>
              <a:srgbClr val="0FB5A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0684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Quietest window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006840" y="3794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– 05:00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00684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 of total minutes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When they watch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Daypart distribution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Afternoon and Evening together account for </a:t>
            </a:r>
            <a:r>
              <a:rPr lang="en-US" sz="14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50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viewing.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777240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03920" y="173736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0" y="219456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drives volume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Morning is a hidden 2nd peak (likely school-out / home audience)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 is small but engaged </a:t>
            </a:r>
            <a:r>
              <a:rPr lang="en-US" sz="1400" dirty="0" smtClean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</a:t>
            </a: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super-fans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under-served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Content performance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and music dominate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 and music channels capture </a:t>
            </a:r>
            <a:r>
              <a:rPr lang="en-US" sz="14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70</a:t>
            </a: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viewing minutes.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7315200" cy="4206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0" y="173736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219456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 — 2,093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— 1,641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 (music) — 1,541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 (music) — 1,297 min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Boomerang &amp; Cartoon Network bring kids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Factors influencing consumption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Bright TV viewing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clear levers emerge from the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sporting events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World Cup &amp; Supersport account for the largest share of minutes — events create appointment viewing.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697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drive 2× the volume of early-week days — leisure time is the strongest predictor.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Daypart (evening prime)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17:00–19:00 is the high-intensity window — aligned with end-of-work / family viewing.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life stage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800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Under-18s post the longest sessions; 26–35 deliver the most volume; 50+ disengage quickly.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5303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716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provinces (Gauteng, Western Cape) over-index — connectivity and infrastructure matter.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|  Audience Insights  |  Jan–Mar 2016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Lifting low-consumption days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for Monday–Thursday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 the weekday line-up around what already works on weekends.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109728" cy="201168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57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Night Sport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football / cricket fixtures or curated weekend highlights to extend the Saturday halo.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874520"/>
            <a:ext cx="109728" cy="201168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57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+ Lifestyle blocks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6517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TV &amp; Channel O specials in the 17:00–19:00 prime window to capture the evening peak.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87452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874520"/>
            <a:ext cx="109728" cy="201168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05740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"After-School" hour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65176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Boomerang &amp; Cartoon Network bundle 14:00–17:00 — Under-18s show the longest sessions.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69080"/>
            <a:ext cx="109728" cy="201168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519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tent-pole shows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84632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Magic &amp; M-Net weekly drama drops to create appointment viewing midweek.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069080"/>
            <a:ext cx="109728" cy="201168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2519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 &amp; marathon nights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484632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/ Wednesday late-evening reruns of weekend live events for missed audiences.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406908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4069080"/>
            <a:ext cx="109728" cy="201168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42519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SA content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3337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kykNET, MK and Vuzu local programming to deepen relevance for Gauteng / Western Cape core.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|  Audience Insights  |  Jan–Mar 2016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Growing the user base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Initiatives to grow Bright TV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plays — combining audience expansion, product, content and partnerships.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gender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 are only 11%. Commission lifestyle, drama and reality blocks aimed at women 25–44.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beyond Gauteng / WC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KZN, Eastern Cape and Limpopo activations with localised content and language options.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057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50+ segment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65176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news, faith and heritage channels; simplify navigation and on-screen guides.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51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product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846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Android app + WhatsApp programme guide for low-data, low-cost viewing on the go.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06908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251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 rights bundles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846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drives engagement. Secure complementary leagues (PSL, rugby) to extend the sport halo.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4069080"/>
            <a:ext cx="3703320" cy="2011680"/>
          </a:xfrm>
          <a:prstGeom prst="roundRect">
            <a:avLst>
              <a:gd name="adj" fmla="val 3636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251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&amp; loyalty programme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58200" y="4846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existing users for sign-ups; partner with telcos for data bundles tied to viewing 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|  Audience Insights  |  Jan–Mar 2016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0" y="45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091672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— what we learned and what to do next.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young, male, urban — Gauteng/WC heavy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+ music + kids = 80%+ of viewing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peaks; Monday is the weakest day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time 17:00–19:00; second peak late morning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Under-18s most engaged per session; 50+ least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20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42316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 Mon–Thu line-up around sport, music &amp; kids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prime-time 17:00–19:00 with tent-pole programming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female-skewed content to close the gender gap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reach beyond two provinces with local content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mobile-first product + telco data partnerships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|  Audience Insights  |  Jan–Mar 2016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B5AE"/>
          </a:solidFill>
          <a:ln w="12700">
            <a:solidFill>
              <a:srgbClr val="0FB5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1828800" cy="0"/>
          </a:xfrm>
          <a:prstGeom prst="line">
            <a:avLst/>
          </a:prstGeom>
          <a:noFill/>
          <a:ln w="25400">
            <a:solidFill>
              <a:srgbClr val="0FB5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 •  Audience Insights  •  Q1 2016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1137</Words>
  <Application>Microsoft Office PowerPoint</Application>
  <PresentationFormat>Custom</PresentationFormat>
  <Paragraphs>202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— Audience &amp; Growth Insights</dc:title>
  <dc:subject>PptxGenJS Presentation</dc:subject>
  <dc:creator>Analytics Team</dc:creator>
  <cp:lastModifiedBy>Panache Zijena</cp:lastModifiedBy>
  <cp:revision>2</cp:revision>
  <dcterms:created xsi:type="dcterms:W3CDTF">2026-04-19T20:20:03Z</dcterms:created>
  <dcterms:modified xsi:type="dcterms:W3CDTF">2026-04-19T20:31:41Z</dcterms:modified>
</cp:coreProperties>
</file>